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nh.jpg"/>
          <p:cNvPicPr>
            <a:picLocks noChangeAspect="1"/>
          </p:cNvPicPr>
          <p:nvPr/>
        </p:nvPicPr>
        <p:blipFill>
          <a:blip r:embed="rId2"/>
          <a:stretch>
            <a:fillRect/>
          </a:stretch>
        </p:blipFill>
        <p:spPr>
          <a:xfrm>
            <a:off x="914400" y="914400"/>
            <a:ext cx="7315200" cy="3657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600">
                <a:solidFill>
                  <a:srgbClr val="008000"/>
                </a:solidFill>
              </a:defRPr>
            </a:pPr>
            <a:r>
              <a:t>Giải pháp Bản đồ số Nông nghiệp cho Sở NN&amp;PTNT Cà Mau</a:t>
            </a:r>
          </a:p>
        </p:txBody>
      </p:sp>
      <p:sp>
        <p:nvSpPr>
          <p:cNvPr id="3" name="Subtitle 2"/>
          <p:cNvSpPr>
            <a:spLocks noGrp="1"/>
          </p:cNvSpPr>
          <p:nvPr>
            <p:ph type="subTitle" idx="1"/>
          </p:nvPr>
        </p:nvSpPr>
        <p:spPr/>
        <p:txBody>
          <a:bodyPr/>
          <a:lstStyle/>
          <a:p>
            <a:pPr>
              <a:defRPr sz="2000" i="1"/>
            </a:pPr>
            <a:r>
              <a:t>Tích hợp viễn thám, IoT và GIS để tối ưu hóa quản lý tài nguyên, nâng cao hiệu quả sản xuất, bảo vệ môi trường và hỗ trợ chuyển đổi số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Căn cứ Pháp lý và Chính sách hỗ trợ</a:t>
            </a:r>
          </a:p>
        </p:txBody>
      </p:sp>
      <p:sp>
        <p:nvSpPr>
          <p:cNvPr id="3" name="Content Placeholder 2"/>
          <p:cNvSpPr>
            <a:spLocks noGrp="1"/>
          </p:cNvSpPr>
          <p:nvPr>
            <p:ph idx="1"/>
          </p:nvPr>
        </p:nvSpPr>
        <p:spPr/>
        <p:txBody>
          <a:bodyPr/>
          <a:lstStyle/>
          <a:p/>
          <a:p>
            <a:pPr>
              <a:defRPr sz="1400">
                <a:solidFill>
                  <a:srgbClr val="000000"/>
                </a:solidFill>
              </a:defRPr>
            </a:pPr>
            <a:r>
              <a:t>- Nghị quyết số 19-NQ/TW: Phát triển nông nghiệp thông minh, chuyển đổi số ngành nông nghiệp.</a:t>
            </a:r>
          </a:p>
          <a:p>
            <a:pPr>
              <a:defRPr sz="1400">
                <a:solidFill>
                  <a:srgbClr val="000000"/>
                </a:solidFill>
              </a:defRPr>
            </a:pPr>
            <a:r>
              <a:t>- Chỉ thị số 15/CT-TTg: Khuyến khích sử dụng công nghệ cao, bao gồm bản đồ số, viễn thám và IoT.</a:t>
            </a:r>
          </a:p>
          <a:p>
            <a:pPr>
              <a:defRPr sz="1400">
                <a:solidFill>
                  <a:srgbClr val="000000"/>
                </a:solidFill>
              </a:defRPr>
            </a:pPr>
            <a:r>
              <a:t>- Kế hoạch số 429/KH-BNN-CN: Xây dựng kế hoạch chuyển đổi số ngành nông nghiệp, nhấn mạnh tích hợp GIS và cảm biến.</a:t>
            </a:r>
          </a:p>
          <a:p>
            <a:pPr>
              <a:defRPr sz="1400">
                <a:solidFill>
                  <a:srgbClr val="000000"/>
                </a:solidFill>
              </a:defRPr>
            </a:pPr>
            <a:r>
              <a:t>- Tiêu chuẩn kỹ thuật quốc tế: ISO 19152:2012 (LADM cho quản lý đất đai), ISO 19115:2003 (Metadata cho thông tin địa lý), và các tiêu chuẩn IoT như IEEE 802.15.4 cho cảm biến không dây.</a:t>
            </a:r>
          </a:p>
          <a:p>
            <a:pPr algn="ctr">
              <a:defRPr i="1" sz="1200"/>
            </a:pPr>
            <a:r>
              <a:t>"Việc triển khai bản đồ số nông nghiệp, kết hợp viễn thám và IoT, phù hợp với chiến lược phát triển nông nghiệp thông minh và bền vững của Chính phủ, giúp nâng cao hiệu quả quản lý tại Cà Mau."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Hiện trạng Nông nghiệp tại Cà Mau</a:t>
            </a:r>
          </a:p>
        </p:txBody>
      </p:sp>
      <p:sp>
        <p:nvSpPr>
          <p:cNvPr id="3" name="Content Placeholder 2"/>
          <p:cNvSpPr>
            <a:spLocks noGrp="1"/>
          </p:cNvSpPr>
          <p:nvPr>
            <p:ph idx="1"/>
          </p:nvPr>
        </p:nvSpPr>
        <p:spPr/>
        <p:txBody>
          <a:bodyPr/>
          <a:lstStyle/>
          <a:p/>
          <a:p>
            <a:pPr>
              <a:defRPr sz="1400">
                <a:solidFill>
                  <a:srgbClr val="000000"/>
                </a:solidFill>
              </a:defRPr>
            </a:pPr>
            <a:r>
              <a:t>- Ngành nông nghiệp đóng vai trò quan trọng trong GRDP của tỉnh (31,9%), với trọng tâm là nuôi trồng thủy sản và trồng trọt.</a:t>
            </a:r>
          </a:p>
          <a:p>
            <a:pPr>
              <a:defRPr sz="1400">
                <a:solidFill>
                  <a:srgbClr val="000000"/>
                </a:solidFill>
              </a:defRPr>
            </a:pPr>
            <a:r>
              <a:t>- Nuôi trồng thủy sản: Diện tích nuôi tôm: 427.000 ha, chiếm 45% diện tích nuôi tôm của Đồng bằng Sông Cửu Long; mô hình nuôi tôm sạch RAS đang phát triển mạnh, nhưng thiếu giám sát chất lượng nước thời gian thực (như Chlorophyll-a, độ đục, nhiệt độ).</a:t>
            </a:r>
          </a:p>
          <a:p>
            <a:pPr>
              <a:defRPr sz="1400">
                <a:solidFill>
                  <a:srgbClr val="000000"/>
                </a:solidFill>
              </a:defRPr>
            </a:pPr>
            <a:r>
              <a:t>- Trồng trọt và chăn nuôi: Mô hình lúa – tôm: Giúp tăng năng suất và bảo vệ môi trường; các vùng trồng lúa, trang trại và công trình thủy lợi cần theo dõi biến động đất đai qua viễn thám.</a:t>
            </a:r>
          </a:p>
          <a:p>
            <a:pPr>
              <a:defRPr sz="1400">
                <a:solidFill>
                  <a:srgbClr val="000000"/>
                </a:solidFill>
              </a:defRPr>
            </a:pPr>
            <a:r>
              <a:t>- Chuyển đổi số: Các phần mềm hỗ trợ quản lý nông nghiệp và thủy sản đã được triển khai, nhưng chưa tích hợp đầy đủ IoT (cảm biến, camera) và viễn thám để giám sát 24/7, cảnh báo sớm dịch bệnh hoặc biến đổi môi trường.</a:t>
            </a:r>
          </a:p>
          <a:p>
            <a:pPr algn="ctr">
              <a:defRPr i="1" sz="1200"/>
            </a:pPr>
            <a:r>
              <a:t>"Cà Mau đang trong quá trình chuyển đổi số ngành nông nghiệp, đặc biệt trong quản lý tài nguyên và sản xuất thủy sản, nhưng cần hệ thống tích hợp để theo dõi liên tục và dự báo chính xác hơn."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Các Vấn đề và Thách thức trong Quản lý Nông nghiệp</a:t>
            </a:r>
          </a:p>
        </p:txBody>
      </p:sp>
      <p:sp>
        <p:nvSpPr>
          <p:cNvPr id="3" name="Content Placeholder 2"/>
          <p:cNvSpPr>
            <a:spLocks noGrp="1"/>
          </p:cNvSpPr>
          <p:nvPr>
            <p:ph idx="1"/>
          </p:nvPr>
        </p:nvSpPr>
        <p:spPr/>
        <p:txBody>
          <a:bodyPr/>
          <a:lstStyle/>
          <a:p/>
          <a:p>
            <a:pPr>
              <a:defRPr sz="1400">
                <a:solidFill>
                  <a:srgbClr val="000000"/>
                </a:solidFill>
              </a:defRPr>
            </a:pPr>
            <a:r>
              <a:t>- Quản lý tài nguyên chưa tối ưu: Giám sát diện tích đất, chất lượng đất và nước chưa liên tục; thiếu dữ liệu thời gian thực từ cảm biến (độ ẩm, pH, oxy hòa tan) dẫn đến lãng phí tài nguyên.</a:t>
            </a:r>
          </a:p>
          <a:p>
            <a:pPr>
              <a:defRPr sz="1400">
                <a:solidFill>
                  <a:srgbClr val="000000"/>
                </a:solidFill>
              </a:defRPr>
            </a:pPr>
            <a:r>
              <a:t>- Ô nhiễm môi trường: Nuôi trồng thủy sản gặp ô nhiễm nước (tảo nở hoa, phú dưỡng hóa); trồng trọt thiếu cảnh báo biến đổi môi trường định kỳ qua viễn thám.</a:t>
            </a:r>
          </a:p>
          <a:p>
            <a:pPr>
              <a:defRPr sz="1400">
                <a:solidFill>
                  <a:srgbClr val="000000"/>
                </a:solidFill>
              </a:defRPr>
            </a:pPr>
            <a:r>
              <a:t>- Thiếu kết nối và minh bạch: Quản lý sản phẩm nông sản/thủy sản (truy xuất nguồn gốc) chưa tích hợp blockchain; thiếu giám sát sức khỏe vật nuôi/cây trồng qua camera đa quang phổ và AI.</a:t>
            </a:r>
          </a:p>
          <a:p>
            <a:pPr>
              <a:defRPr sz="1400">
                <a:solidFill>
                  <a:srgbClr val="000000"/>
                </a:solidFill>
              </a:defRPr>
            </a:pPr>
            <a:r>
              <a:t>- Khả năng dự báo và cảnh báo: Chưa có hệ thống cảnh báo sớm về thời tiết cực đoan, dịch bệnh (dịch bệnh tôm, cá, lúa) hoặc biến động rừng ngập mặn, dẫn đến thiệt hại lớn.</a:t>
            </a:r>
          </a:p>
          <a:p>
            <a:pPr algn="ctr">
              <a:defRPr i="1" sz="1200"/>
            </a:pPr>
            <a:r>
              <a:t>"Mặc dù đã có tiến triển trong chuyển đổi số, nhưng vẫn thiếu hệ thống quản lý toàn diện với viễn thám, IoT và AI để tối ưu hóa sản xuất, giảm rủi ro và bảo vệ môi trường tại Cà Mau."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Giải pháp Bản đồ số Nông nghiệp cho Cà Mau</a:t>
            </a:r>
          </a:p>
        </p:txBody>
      </p:sp>
      <p:sp>
        <p:nvSpPr>
          <p:cNvPr id="3" name="Content Placeholder 2"/>
          <p:cNvSpPr>
            <a:spLocks noGrp="1"/>
          </p:cNvSpPr>
          <p:nvPr>
            <p:ph idx="1"/>
          </p:nvPr>
        </p:nvSpPr>
        <p:spPr/>
        <p:txBody>
          <a:bodyPr/>
          <a:lstStyle/>
          <a:p/>
          <a:p>
            <a:pPr>
              <a:defRPr sz="1400">
                <a:solidFill>
                  <a:srgbClr val="000000"/>
                </a:solidFill>
              </a:defRPr>
            </a:pPr>
            <a:r>
              <a:t>- Quản lý tài nguyên nông nghiệp và thủy sản:</a:t>
            </a:r>
          </a:p>
          <a:p>
            <a:pPr lvl="1">
              <a:defRPr sz="1400">
                <a:solidFill>
                  <a:srgbClr val="000000"/>
                </a:solidFill>
              </a:defRPr>
            </a:pPr>
            <a:r>
              <a:t>  - Phân hệ 1: Quản lý vùng nuôi thủy sản (tôm sú, tôm càng xanh, cá tra, cá lóc, cá rô phi) qua bản đồ GIS, viễn thám để lập bản đồ vùng nuôi, giám sát chất lượng nước (Chlorophyll-a, độ đục, nhiệt độ) và dự báo môi trường.</a:t>
            </a:r>
          </a:p>
          <a:p>
            <a:pPr lvl="1">
              <a:defRPr sz="1400">
                <a:solidFill>
                  <a:srgbClr val="000000"/>
                </a:solidFill>
              </a:defRPr>
            </a:pPr>
            <a:r>
              <a:t>  - Phân hệ 2: Quản lý nông nghiệp (vùng trồng lúa, trang trại, công trình thủy lợi, lò giết mổ, PCCC rừng) với dữ liệu GIS, cảm biến và AI để theo dõi biến động đất đai, sức khỏe cây trồng/vật nuôi.</a:t>
            </a:r>
          </a:p>
          <a:p>
            <a:pPr>
              <a:defRPr sz="1400">
                <a:solidFill>
                  <a:srgbClr val="000000"/>
                </a:solidFill>
              </a:defRPr>
            </a:pPr>
            <a:r>
              <a:t>- Ứng dụng viễn thám và GIS: Giám sát thay đổi diện tích đất, chất lượng nước/môi trường thời gian thực; cảnh báo sớm thời tiết cực đoan và biến đổi môi trường.</a:t>
            </a:r>
          </a:p>
          <a:p>
            <a:pPr>
              <a:defRPr sz="1400">
                <a:solidFill>
                  <a:srgbClr val="000000"/>
                </a:solidFill>
              </a:defRPr>
            </a:pPr>
            <a:r>
              <a:t>- Tích hợp IoT (cảm biến, camera): Giám sát 24/7 chất lượng nước (pH, oxy, độ mặn), sức khỏe thủy sản/cây trồng (phát hiện sâu bệnh qua camera đa quang phổ, UAV); tự động hóa tưới tiêu, cho ăn.</a:t>
            </a:r>
          </a:p>
          <a:p>
            <a:pPr>
              <a:defRPr sz="1400">
                <a:solidFill>
                  <a:srgbClr val="000000"/>
                </a:solidFill>
              </a:defRPr>
            </a:pPr>
            <a:r>
              <a:t>- AI và Big Data: Phân tích dữ liệu từ cảm biến/viễn thám để dự báo dịch bệnh, sản lượng; quản lý nhật ký truy cập, thống kê sản lượng theo loài/phường xã.</a:t>
            </a:r>
          </a:p>
          <a:p>
            <a:pPr>
              <a:defRPr sz="1400">
                <a:solidFill>
                  <a:srgbClr val="000000"/>
                </a:solidFill>
              </a:defRPr>
            </a:pPr>
            <a:r>
              <a:t>- Ứng dụng mobile: Cho chủ hộ nuôi trồng cập nhật dịch bệnh, sản lượng; xem bản đồ cảnh báo.</a:t>
            </a:r>
          </a:p>
          <a:p>
            <a:pPr algn="ctr">
              <a:defRPr i="1" sz="1200"/>
            </a:pPr>
            <a:r>
              <a:t>"Giải pháp bản đồ số tích hợp viễn thám, IoT và AI sẽ giúp Cà Mau chuyển đổi ngành nông nghiệp thành hệ thống thông minh, giảm thiểu rủi ro và tối ưu hóa tài nguyên bền vững."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Các lớp dữ liệu quan trọng cho Cà Mau</a:t>
            </a:r>
          </a:p>
        </p:txBody>
      </p:sp>
      <p:graphicFrame>
        <p:nvGraphicFramePr>
          <p:cNvPr id="3" name="Table 2"/>
          <p:cNvGraphicFramePr>
            <a:graphicFrameLocks noGrp="1"/>
          </p:cNvGraphicFramePr>
          <p:nvPr/>
        </p:nvGraphicFramePr>
        <p:xfrm>
          <a:off x="457200" y="1371600"/>
          <a:ext cx="8229600" cy="4114800"/>
        </p:xfrm>
        <a:graphic>
          <a:graphicData uri="http://schemas.openxmlformats.org/drawingml/2006/table">
            <a:tbl>
              <a:tblPr firstRow="1" bandRow="1">
                <a:tableStyleId>{5C22544A-7EE6-4342-B048-85BDC9FD1C3A}</a:tableStyleId>
              </a:tblPr>
              <a:tblGrid>
                <a:gridCol w="4114800"/>
                <a:gridCol w="4114800"/>
              </a:tblGrid>
              <a:tr h="374072">
                <a:tc>
                  <a:txBody>
                    <a:bodyPr/>
                    <a:lstStyle/>
                    <a:p>
                      <a:pPr>
                        <a:defRPr b="1" sz="1200"/>
                      </a:pPr>
                      <a:r>
                        <a:t>Lớp dữ liệu</a:t>
                      </a:r>
                    </a:p>
                  </a:txBody>
                  <a:tcPr>
                    <a:solidFill>
                      <a:srgbClr val="008000"/>
                    </a:solidFill>
                  </a:tcPr>
                </a:tc>
                <a:tc>
                  <a:txBody>
                    <a:bodyPr/>
                    <a:lstStyle/>
                    <a:p>
                      <a:pPr>
                        <a:defRPr b="1" sz="1200"/>
                      </a:pPr>
                      <a:r>
                        <a:t>Mô tả</a:t>
                      </a:r>
                    </a:p>
                  </a:txBody>
                  <a:tcPr>
                    <a:solidFill>
                      <a:srgbClr val="008000"/>
                    </a:solidFill>
                  </a:tcPr>
                </a:tc>
              </a:tr>
              <a:tr h="374072">
                <a:tc>
                  <a:txBody>
                    <a:bodyPr/>
                    <a:lstStyle/>
                    <a:p>
                      <a:pPr>
                        <a:defRPr sz="1000"/>
                      </a:pPr>
                      <a:r>
                        <a:t>Vùng nuôi thủy sản</a:t>
                      </a:r>
                    </a:p>
                  </a:txBody>
                  <a:tcPr/>
                </a:tc>
                <a:tc>
                  <a:txBody>
                    <a:bodyPr/>
                    <a:lstStyle/>
                    <a:p>
                      <a:pPr>
                        <a:defRPr sz="1000"/>
                      </a:pPr>
                      <a:r>
                        <a:t>Diện tích nuôi tôm sú, tôm càng xanh, cá tra, cá lóc, cá rô phi; theo dõi biến động qua viễn thám.</a:t>
                      </a:r>
                    </a:p>
                  </a:txBody>
                  <a:tcPr/>
                </a:tc>
              </a:tr>
              <a:tr h="374072">
                <a:tc>
                  <a:txBody>
                    <a:bodyPr/>
                    <a:lstStyle/>
                    <a:p>
                      <a:pPr>
                        <a:defRPr sz="1000"/>
                      </a:pPr>
                      <a:r>
                        <a:t>Công trình thủy lợi</a:t>
                      </a:r>
                    </a:p>
                  </a:txBody>
                  <a:tcPr/>
                </a:tc>
                <a:tc>
                  <a:txBody>
                    <a:bodyPr/>
                    <a:lstStyle/>
                    <a:p>
                      <a:pPr>
                        <a:defRPr sz="1000"/>
                      </a:pPr>
                      <a:r>
                        <a:t>Kênh mương, đê điều, hệ thống cấp thoát nước; lọc theo năm xây dựng.</a:t>
                      </a:r>
                    </a:p>
                  </a:txBody>
                  <a:tcPr/>
                </a:tc>
              </a:tr>
              <a:tr h="374072">
                <a:tc>
                  <a:txBody>
                    <a:bodyPr/>
                    <a:lstStyle/>
                    <a:p>
                      <a:pPr>
                        <a:defRPr sz="1000"/>
                      </a:pPr>
                      <a:r>
                        <a:t>Trang trại và mô hình lúa – tôm</a:t>
                      </a:r>
                    </a:p>
                  </a:txBody>
                  <a:tcPr/>
                </a:tc>
                <a:tc>
                  <a:txBody>
                    <a:bodyPr/>
                    <a:lstStyle/>
                    <a:p>
                      <a:pPr>
                        <a:defRPr sz="1000"/>
                      </a:pPr>
                      <a:r>
                        <a:t>Diện tích, năng suất, chất lượng đất; lọc theo thời gian xây dựng.</a:t>
                      </a:r>
                    </a:p>
                  </a:txBody>
                  <a:tcPr/>
                </a:tc>
              </a:tr>
              <a:tr h="374072">
                <a:tc>
                  <a:txBody>
                    <a:bodyPr/>
                    <a:lstStyle/>
                    <a:p>
                      <a:pPr>
                        <a:defRPr sz="1000"/>
                      </a:pPr>
                      <a:r>
                        <a:t>Lò giết mổ động vật</a:t>
                      </a:r>
                    </a:p>
                  </a:txBody>
                  <a:tcPr/>
                </a:tc>
                <a:tc>
                  <a:txBody>
                    <a:bodyPr/>
                    <a:lstStyle/>
                    <a:p>
                      <a:pPr>
                        <a:defRPr sz="1000"/>
                      </a:pPr>
                      <a:r>
                        <a:t>Quản lý chất lượng sản phẩm; lọc theo năm mở.</a:t>
                      </a:r>
                    </a:p>
                  </a:txBody>
                  <a:tcPr/>
                </a:tc>
              </a:tr>
              <a:tr h="374072">
                <a:tc>
                  <a:txBody>
                    <a:bodyPr/>
                    <a:lstStyle/>
                    <a:p>
                      <a:pPr>
                        <a:defRPr sz="1000"/>
                      </a:pPr>
                      <a:r>
                        <a:t>Môi trường nuôi trồng</a:t>
                      </a:r>
                    </a:p>
                  </a:txBody>
                  <a:tcPr/>
                </a:tc>
                <a:tc>
                  <a:txBody>
                    <a:bodyPr/>
                    <a:lstStyle/>
                    <a:p>
                      <a:pPr>
                        <a:defRPr sz="1000"/>
                      </a:pPr>
                      <a:r>
                        <a:t>Chất lượng nước (độ mặn, pH, nhiệt độ, oxy hòa tan từ cảm biến); rừng ngập mặn để giám sát biến động.</a:t>
                      </a:r>
                    </a:p>
                  </a:txBody>
                  <a:tcPr/>
                </a:tc>
              </a:tr>
              <a:tr h="374072">
                <a:tc>
                  <a:txBody>
                    <a:bodyPr/>
                    <a:lstStyle/>
                    <a:p>
                      <a:pPr>
                        <a:defRPr sz="1000"/>
                      </a:pPr>
                      <a:r>
                        <a:t>Sự biến động môi trường</a:t>
                      </a:r>
                    </a:p>
                  </a:txBody>
                  <a:tcPr/>
                </a:tc>
                <a:tc>
                  <a:txBody>
                    <a:bodyPr/>
                    <a:lstStyle/>
                    <a:p>
                      <a:pPr>
                        <a:defRPr sz="1000"/>
                      </a:pPr>
                      <a:r>
                        <a:t>Biến đổi khí hậu, thời tiết cực đoan; cảnh báo dịch bệnh (tôm, cá, lúa).</a:t>
                      </a:r>
                    </a:p>
                  </a:txBody>
                  <a:tcPr/>
                </a:tc>
              </a:tr>
              <a:tr h="374072">
                <a:tc>
                  <a:txBody>
                    <a:bodyPr/>
                    <a:lstStyle/>
                    <a:p>
                      <a:pPr>
                        <a:defRPr sz="1000"/>
                      </a:pPr>
                      <a:r>
                        <a:t>Truy xuất nguồn gốc</a:t>
                      </a:r>
                    </a:p>
                  </a:txBody>
                  <a:tcPr/>
                </a:tc>
                <a:tc>
                  <a:txBody>
                    <a:bodyPr/>
                    <a:lstStyle/>
                    <a:p>
                      <a:pPr>
                        <a:defRPr sz="1000"/>
                      </a:pPr>
                      <a:r>
                        <a:t>Blockchain cho sản phẩm nông sản/thủy sản.</a:t>
                      </a:r>
                    </a:p>
                  </a:txBody>
                  <a:tcPr/>
                </a:tc>
              </a:tr>
              <a:tr h="374072">
                <a:tc>
                  <a:txBody>
                    <a:bodyPr/>
                    <a:lstStyle/>
                    <a:p>
                      <a:pPr>
                        <a:defRPr sz="1000"/>
                      </a:pPr>
                      <a:r>
                        <a:t>Sản phẩm và thống kê</a:t>
                      </a:r>
                    </a:p>
                  </a:txBody>
                  <a:tcPr/>
                </a:tc>
                <a:tc>
                  <a:txBody>
                    <a:bodyPr/>
                    <a:lstStyle/>
                    <a:p>
                      <a:pPr>
                        <a:defRPr sz="1000"/>
                      </a:pPr>
                      <a:r>
                        <a:t>Sản lượng, xuất khẩu, chuỗi cung ứng; dashboard so sánh sản lượng theo phường/xã.</a:t>
                      </a:r>
                    </a:p>
                  </a:txBody>
                  <a:tcPr/>
                </a:tc>
              </a:tr>
              <a:tr h="374072">
                <a:tc>
                  <a:txBody>
                    <a:bodyPr/>
                    <a:lstStyle/>
                    <a:p>
                      <a:pPr>
                        <a:defRPr sz="1000"/>
                      </a:pPr>
                      <a:r>
                        <a:t>Hình ảnh UAV</a:t>
                      </a:r>
                    </a:p>
                  </a:txBody>
                  <a:tcPr/>
                </a:tc>
                <a:tc>
                  <a:txBody>
                    <a:bodyPr/>
                    <a:lstStyle/>
                    <a:p>
                      <a:pPr>
                        <a:defRPr sz="1000"/>
                      </a:pPr>
                      <a:r>
                        <a:t>Quản lý đợt quay chụp để giám sát môi trường và vùng nuôi.</a:t>
                      </a:r>
                    </a:p>
                  </a:txBody>
                  <a:tcPr/>
                </a:tc>
              </a:tr>
              <a:tr h="374080">
                <a:tc>
                  <a:txBody>
                    <a:bodyPr/>
                    <a:lstStyle/>
                    <a:p>
                      <a:pPr>
                        <a:defRPr sz="1000"/>
                      </a:pPr>
                      <a:r>
                        <a:t>Quản trị hệ thống</a:t>
                      </a:r>
                    </a:p>
                  </a:txBody>
                  <a:tcPr/>
                </a:tc>
                <a:tc>
                  <a:txBody>
                    <a:bodyPr/>
                    <a:lstStyle/>
                    <a:p>
                      <a:pPr>
                        <a:defRPr sz="1000"/>
                      </a:pPr>
                      <a:r>
                        <a:t>Người dùng, vai trò, nhật ký truy cập/thay đổi dữ liệu.</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Công nghệ và Phương pháp Triển khai Giải pháp</a:t>
            </a:r>
          </a:p>
        </p:txBody>
      </p:sp>
      <p:sp>
        <p:nvSpPr>
          <p:cNvPr id="3" name="Content Placeholder 2"/>
          <p:cNvSpPr>
            <a:spLocks noGrp="1"/>
          </p:cNvSpPr>
          <p:nvPr>
            <p:ph idx="1"/>
          </p:nvPr>
        </p:nvSpPr>
        <p:spPr/>
        <p:txBody>
          <a:bodyPr/>
          <a:lstStyle/>
          <a:p/>
          <a:p>
            <a:pPr>
              <a:defRPr sz="1400">
                <a:solidFill>
                  <a:srgbClr val="000000"/>
                </a:solidFill>
              </a:defRPr>
            </a:pPr>
            <a:r>
              <a:t>- Viễn thám: Ảnh vệ tinh độ phân giải cao để phân tích biến động đất đai, chất lượng nước (Chlorophyll-a, độ đục); so sánh định kỳ để dự báo môi trường.</a:t>
            </a:r>
          </a:p>
          <a:p>
            <a:pPr>
              <a:defRPr sz="1400">
                <a:solidFill>
                  <a:srgbClr val="000000"/>
                </a:solidFill>
              </a:defRPr>
            </a:pPr>
            <a:r>
              <a:t>- GIS: Quản lý dữ liệu không gian (đa giác, điểm); công cụ tìm kiếm thuộc tính/không gian, đo đạc, chỉ đường; import dữ liệu (Excel, GeoJSON, Shapefile).</a:t>
            </a:r>
          </a:p>
          <a:p>
            <a:pPr>
              <a:defRPr sz="1400">
                <a:solidFill>
                  <a:srgbClr val="000000"/>
                </a:solidFill>
              </a:defRPr>
            </a:pPr>
            <a:r>
              <a:t>- IoT (Cảm biến và Camera): Giám sát thời gian thực (độ ẩm đất, nhiệt độ, hành vi vật nuôi qua camera dưới nước/multispectral); tích hợp AI để cảnh báo sớm (dịch bệnh, tảo nở hoa), tự động hóa (tưới tiêu, cho ăn).</a:t>
            </a:r>
          </a:p>
          <a:p>
            <a:pPr>
              <a:defRPr sz="1400">
                <a:solidFill>
                  <a:srgbClr val="000000"/>
                </a:solidFill>
              </a:defRPr>
            </a:pPr>
            <a:r>
              <a:t>- AI và Big Data: Phân tích dữ liệu lớn từ đám mây để dự báo tăng trưởng, dịch bệnh; dashboard thống kê sản lượng, biểu đồ biến động theo năm.</a:t>
            </a:r>
          </a:p>
          <a:p>
            <a:pPr>
              <a:defRPr sz="1400">
                <a:solidFill>
                  <a:srgbClr val="000000"/>
                </a:solidFill>
              </a:defRPr>
            </a:pPr>
            <a:r>
              <a:t>- Ứng dụng mobile: Đăng nhập, cập nhật dịch bệnh/sản lượng, xem bản đồ cảnh báo.</a:t>
            </a:r>
          </a:p>
          <a:p>
            <a:pPr>
              <a:defRPr sz="1400">
                <a:solidFill>
                  <a:srgbClr val="000000"/>
                </a:solidFill>
              </a:defRPr>
            </a:pPr>
            <a:r>
              <a:t>- Triển khai: Sử dụng môi trường Python cho AI (với thư viện như numpy, scipy cho phân tích); tích hợp UAV cho hình ảnh.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Lợi ích và Kết quả Dự Kiến</a:t>
            </a:r>
          </a:p>
        </p:txBody>
      </p:sp>
      <p:sp>
        <p:nvSpPr>
          <p:cNvPr id="3" name="Content Placeholder 2"/>
          <p:cNvSpPr>
            <a:spLocks noGrp="1"/>
          </p:cNvSpPr>
          <p:nvPr>
            <p:ph idx="1"/>
          </p:nvPr>
        </p:nvSpPr>
        <p:spPr/>
        <p:txBody>
          <a:bodyPr/>
          <a:lstStyle/>
          <a:p/>
          <a:p>
            <a:pPr>
              <a:defRPr sz="1400">
                <a:solidFill>
                  <a:srgbClr val="000000"/>
                </a:solidFill>
              </a:defRPr>
            </a:pPr>
            <a:r>
              <a:t>- Quản lý tài nguyên hiệu quả: Giám sát liên tục diện tích đất/nước qua viễn thám/IoT, tối ưu hóa đầu vào (tiết kiệm nước 20-30% qua tưới tiêu chính xác).</a:t>
            </a:r>
          </a:p>
          <a:p>
            <a:pPr>
              <a:defRPr sz="1400">
                <a:solidFill>
                  <a:srgbClr val="000000"/>
                </a:solidFill>
              </a:defRPr>
            </a:pPr>
            <a:r>
              <a:t>- Tăng năng suất và chất lượng: Phát hiện sớm sâu bệnh/dịch bệnh qua camera/AI, tăng sản lượng tôm/lúa 15-25%; cải thiện chất lượng sản phẩm cho xuất khẩu.</a:t>
            </a:r>
          </a:p>
          <a:p>
            <a:pPr>
              <a:defRPr sz="1400">
                <a:solidFill>
                  <a:srgbClr val="000000"/>
                </a:solidFill>
              </a:defRPr>
            </a:pPr>
            <a:r>
              <a:t>- Bảo vệ môi trường: Giám sát chất lượng nước/đất, bảo vệ rừng ngập mặn; giảm ô nhiễm từ nuôi trồng (giảm lãng phí thức ăn qua cho ăn tự động).</a:t>
            </a:r>
          </a:p>
          <a:p>
            <a:pPr>
              <a:defRPr sz="1400">
                <a:solidFill>
                  <a:srgbClr val="000000"/>
                </a:solidFill>
              </a:defRPr>
            </a:pPr>
            <a:r>
              <a:t>- Phát triển bền vững: Thống kê báo cáo chi tiết (Excel xuất), minh bạch truy xuất nguồn gốc; hỗ trợ nông dân qua ứng dụng mobile, giảm thiệt hại từ biến đổi môi trường lên đến 40%.</a:t>
            </a:r>
          </a:p>
          <a:p>
            <a:pPr>
              <a:defRPr sz="1400">
                <a:solidFill>
                  <a:srgbClr val="000000"/>
                </a:solidFill>
              </a:defRPr>
            </a:pPr>
            <a:r>
              <a:t>- Kết quả kinh tế: Nâng cao GRDP nông nghiệp, hỗ trợ mô hình RAS và lúa-tôm bền vững.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Đề xuất Hành động Triển khai Giải pháp</a:t>
            </a:r>
          </a:p>
        </p:txBody>
      </p:sp>
      <p:sp>
        <p:nvSpPr>
          <p:cNvPr id="3" name="Content Placeholder 2"/>
          <p:cNvSpPr>
            <a:spLocks noGrp="1"/>
          </p:cNvSpPr>
          <p:nvPr>
            <p:ph idx="1"/>
          </p:nvPr>
        </p:nvSpPr>
        <p:spPr/>
        <p:txBody>
          <a:bodyPr/>
          <a:lstStyle/>
          <a:p/>
          <a:p>
            <a:pPr>
              <a:defRPr sz="1400">
                <a:solidFill>
                  <a:srgbClr val="000000"/>
                </a:solidFill>
              </a:defRPr>
            </a:pPr>
            <a:r>
              <a:t>- Khởi động dự án thí điểm: Tại vùng nuôi tôm sú/cá tra và mô hình lúa-tôm để kiểm tra viễn thám/IoT, điều chỉnh dựa trên dữ liệu thực tế.</a:t>
            </a:r>
          </a:p>
          <a:p>
            <a:pPr>
              <a:defRPr sz="1400">
                <a:solidFill>
                  <a:srgbClr val="000000"/>
                </a:solidFill>
              </a:defRPr>
            </a:pPr>
            <a:r>
              <a:t>- Hợp tác đối tác: Với công ty GIS (ESRI/ArcGIS), viễn thám (Sentinel/Landsat), IoT (cảm biến từ Arduino/Raspberry Pi) và AI (Google Cloud/TensorFlow).</a:t>
            </a:r>
          </a:p>
          <a:p>
            <a:pPr>
              <a:defRPr sz="1400">
                <a:solidFill>
                  <a:srgbClr val="000000"/>
                </a:solidFill>
              </a:defRPr>
            </a:pPr>
            <a:r>
              <a:t>- Đào tạo: Cán bộ về quản lý hệ thống (quyền vai trò, import dữ liệu); nông dân về ứng dụng mobile và cảm biến để cập nhật dịch bệnh/sản lượng.</a:t>
            </a:r>
          </a:p>
          <a:p>
            <a:pPr>
              <a:defRPr sz="1400">
                <a:solidFill>
                  <a:srgbClr val="000000"/>
                </a:solidFill>
              </a:defRPr>
            </a:pPr>
            <a:r>
              <a:t>- Lộ trình triển khai: Giai đoạn 1 (6 tháng): Xây dựng lớp dữ liệu cơ bản và dashboard. Giai đoạn 2 (1 năm): Tích hợp IoT/AI. Giai đoạn 3 (2-3 năm): Mở rộng toàn tỉnh, với ngân sách ước tính và đo lường KPI (tăng năng suất, giảm rủi 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8000"/>
                </a:solidFill>
              </a:defRPr>
            </a:pPr>
            <a:r>
              <a:t>Kết luận</a:t>
            </a:r>
          </a:p>
        </p:txBody>
      </p:sp>
      <p:sp>
        <p:nvSpPr>
          <p:cNvPr id="3" name="Content Placeholder 2"/>
          <p:cNvSpPr>
            <a:spLocks noGrp="1"/>
          </p:cNvSpPr>
          <p:nvPr>
            <p:ph idx="1"/>
          </p:nvPr>
        </p:nvSpPr>
        <p:spPr/>
        <p:txBody>
          <a:bodyPr/>
          <a:lstStyle/>
          <a:p/>
          <a:p>
            <a:pPr>
              <a:defRPr sz="1400">
                <a:solidFill>
                  <a:srgbClr val="000000"/>
                </a:solidFill>
              </a:defRPr>
            </a:pPr>
            <a:r>
              <a:t>- Giải pháp bản đồ số nông nghiệp, tích hợp viễn thám, IoT và AI, sẽ giúp Sở NN&amp;PTNT Cà Mau quản lý tài nguyên hiệu quả, nâng cao năng suất/chất lượng sản phẩm, bảo vệ môi trường và hướng tới phát triển bền vững trong nông nghiệp/thủy sản.</a:t>
            </a:r>
          </a:p>
          <a:p>
            <a:pPr>
              <a:defRPr sz="1400">
                <a:solidFill>
                  <a:srgbClr val="000000"/>
                </a:solidFill>
              </a:defRPr>
            </a:pPr>
            <a:r>
              <a:t>- Sự phối hợp giữa cơ quan nhà nước, đối tác công nghệ và cộng đồng nông dân là chìa khóa thành công, mang lại lợi ích lâu dài cho tỉnh Cà Mau.</a:t>
            </a:r>
          </a:p>
          <a:p>
            <a:pPr algn="ctr">
              <a:defRPr i="1" sz="1200"/>
            </a:pPr>
            <a:r>
              <a:t>"Giải pháp bản đồ số nông nghiệp không chỉ giúp Cà Mau đạt mục tiêu phát triển bền vững mà còn nâng tầm hiệu quả quản lý và sản xuất, phù hợp với chuyển đổi số quốc 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